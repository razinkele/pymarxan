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Įvadas" id="{0ca98c39-fa65-bf9e-7beb-510419fe4bd6}">
          <p14:sldIdLst>
            <p14:sldId id="256"/>
            <p14:sldId id="257"/>
            <p14:sldId id="258"/>
          </p14:sldIdLst>
        </p14:section>
        <p14:section name="Būklė ir galimybės" id="{ce024f98-eacb-0914-2f6e-c95f3ce9f430}">
          <p14:sldIdLst>
            <p14:sldId id="259"/>
            <p14:sldId id="260"/>
          </p14:sldIdLst>
        </p14:section>
        <p14:section name="Taikymas" id="{3c605e1d-6574-0fe6-e5b0-047c44740170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Neišplėtotos galimybės" id="{05d6923b-8679-f082-119f-21e3fb282ba4}">
          <p14:sldIdLst>
            <p14:sldId id="267"/>
            <p14:sldId id="268"/>
            <p14:sldId id="269"/>
          </p14:sldIdLst>
        </p14:section>
        <p14:section name="Toliau" id="{a8cea322-522c-a39c-5fc7-190aed419c3c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32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323A"/>
                </a:solidFill>
                <a:latin typeface="+mn-lt"/>
              </a:rPr>
              <a:t>Apsaugota vertybės dalis,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Esamos ST</c:v>
                </c:pt>
              </c:strCache>
            </c:strRef>
          </c:tx>
          <c:spPr>
            <a:solidFill>
              <a:srgbClr val="6C8A9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3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Nendrynai</c:v>
                  </c:pt>
                  <c:pt idx="1">
                    <c:v>Povandeniniai makrofitai</c:v>
                  </c:pt>
                  <c:pt idx="2">
                    <c:v>Starkių nerštavietės</c:v>
                  </c:pt>
                  <c:pt idx="3">
                    <c:v>Migruojantys vandens paukščiai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2.4</c:v>
                </c:pt>
                <c:pt idx="1">
                  <c:v>0.3</c:v>
                </c:pt>
                <c:pt idx="2">
                  <c:v>0</c:v>
                </c:pt>
                <c:pt idx="3">
                  <c:v>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Siūlomas tinklas</c:v>
                </c:pt>
              </c:strCache>
            </c:strRef>
          </c:tx>
          <c:spPr>
            <a:solidFill>
              <a:srgbClr val="2E8B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3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Nendrynai</c:v>
                  </c:pt>
                  <c:pt idx="1">
                    <c:v>Povandeniniai makrofitai</c:v>
                  </c:pt>
                  <c:pt idx="2">
                    <c:v>Starkių nerštavietės</c:v>
                  </c:pt>
                  <c:pt idx="3">
                    <c:v>Migruojantys vandens paukščiai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30.4</c:v>
                </c:pt>
                <c:pt idx="1">
                  <c:v>30</c:v>
                </c:pt>
                <c:pt idx="2">
                  <c:v>86</c:v>
                </c:pt>
                <c:pt idx="3">
                  <c:v>30.2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63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32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D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A9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32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Šiandien pristatysiu pymarxan – atvirąją programinę įrangą saugomų teritorijų planavimui. Aptarsime, kokius sprendimus ji padeda priimti, kiek ji yra išbaigta šiandien ir – svarbiausia – ko joje dar trūksta, kad ją būtų galima naudoti kasdieniame administracijų darbe.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 penki tipiniai klausimai, su kuriais susiduria saugomų teritorijų administracijos. Visi jie turi tą pačią struktūrą: yra daug galimų vietų, ribotas biudžetas ir aiškūs tikslai – pavyzdžiui, ES biodiversiteto strategijos 30 % tikslas. Būtent tokius uždavinius sprendžia sisteminio apsaugos planavimo įrankiai. Toliau kiekvieną skaidrę siesiu su vienu iš šių klausimų.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Darbo eiga visada ta pati. Pirmiausia teritorija suskaidoma į planavimo vienetus – tai gali būti sklypai arba rastro langeliai. Kiekvienam vienetui žinome, kiek jame yra kiekvienos saugotinos vertybės ir kiek kainuotų jį saugoti. Tada nustatome tikslus, o algoritmas suranda pigiausią derinį, kuris visus juos tenkina. Marxan yra pasaulinis standartas šioje srityje; pymarxan jį atkuria ir gerokai išplečia.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Projektas aktyviai vystomas nuo 2026 m. gegužės: per penkis mėnesius išleistos 45 versijos, dabartinė – 0.45.0. Daugiau nei 3 700 automatinių testų paleidžiama po kiekvieno pakeitimo. Programinė įranga atvira, MIT licencija, laikoma GitHub. Svarbu sąžiningai pasakyti: tai dar ne „dėžutės" produktas – jis neplatinamas per standartinį Python paketų katalogą, sąsaja angliška, o realaus projekto su administracijos duomenimis dar nebuvo.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Šešios pagrindinės galimybių grupės. Teritorijų atranka ir zonavimas – tai klasikinis Marxan. Jungtumo modulis leidžia įvertinti ekologinius koridorius ir klimato refugijas. Upių modulis sprendžia, kuriuos barjerus šalinti. Prioritetų žemėlapis veikia kaip Zonation – sureitinguoja visą teritoriją. Ataskaitos padeda atsiskaityti už 30×30 tikslus; galima tiesiogiai importuoti esamas saugomas teritorijas iš Protected Planet (WDPA) duomenų bazės.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Konkretus pavyzdys mūsų regione. Tai sintetinis, bet realistiškos struktūros scenarijus: Kuršių marios ir priekrantė suskaidytos į 256 langelius, sąnaudos – žmogaus veiklos spaudimas, didžiausias prie uosto. Turime keturias vertybes ir dvi jau esamas saugomas teritorijas. Kairėje – sąnaudų žemėlapis, viduryje – tikslusis optimalus sprendimas, dešinėje – klasikinio Marxan algoritmo rezultatas. Abu tenkina visus tikslus, bet tikslusis sprendimas yra 24 % pigesnis ir kompaktiškesnis. Tai ir yra viena iš pymarxan pridėtinių verčių: galima gauti įrodytą optimumą, o ne tik gerą apytikslį sprendimą.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Spragų analizė parodo, kiek kiekvienos vertybės apima esamas tinklas ir kiek – siūlomas. Šiame pavyzdyje esamos teritorijos apima vos kelis procentus, o siūlomas tinklas pasiekia 30 % tikslą visoms vertybėms. Tokia lentelė – tiesioginis argumentas ataskaitose ir derybose: matyti, kurių vertybių apsauga nepakankama ir kiek trūksta.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Antras pavyzdys iš mūsų regiono – nendrynai Kuršių nerijos marių pakrantėje. Čia uždavinys priešingas klasikiniam Marxan: nendrynų biologinei įvairovei reikia ne vientisų plotų, o mozaikos, kurioje pjaunami ir nepjaunami ruožai kaitaliojasi. Pakrantę nuo Smiltynės iki sienos padalijome į 52 vieno kilometro ruožus; kiekvienas šį sezoną arba pjaunamas, arba paliekamas. Senos nendrės buveinė skaičiuojama tik nepjautuose ruožuose, jaunos nendrės mozaikos buveinė – tik pjautuose. Viršutinė juosta – pigiausias planas: pjaunama keliais ištisais blokais prie gyvenviečių. Apatinė – kai kiekviena pjauto ir nepjauto ruožo riba gauna premiją: ribų padaugėja nuo 7 iki 31, o ilgiausias vientisas nepjautas ruožas sutrumpėja nuo 15 iki 9 km. Tai kainuoja apie 12,6 tūkst. eurų daugiau. Premijos dydis – valdymo sprendimas: programa parodo, kiek kainuoja kiekviena papildoma riba. Duomenys sintetiniai, gyvenviečių padėtis apytikslė.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Upių modulis atsako į klausimą, kurias užtvankas, slenksčius ar pralaidas šalinti pirmiausia. Kairėje – tinklas prieš ir po optimizavimo, dešinėje – kreivė, rodanti, kiek jungtumo padidėja didinant biudžetą. Tai padeda pagrįsti, kodėl verta investuoti būtent į tam tikrus objektus, ir parodyti, kur papildomos lėšos duoda mažai naudos.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Darbuotojui nereikia programuoti: viskas vyksta internetinėje programoje naršyklėje. Įkeliami duomenys, nustatomi tikslai, paleidžiamas skaičiavimas, palyginamos alternatyvos ir eksportuojami rezultatai. Dešinėje – programos upių skiltis: biudžetas, rezultatas ir jungtumo kreivė. Analitikai tą pačią logiką gali naudoti per Python, kad analizę būtų galima pakartoti ir dokumentuoti.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Administracijai svarbiausia – ar rezultatais galima remtis. Turime keturis patikimumo sluoksnius: uždavinį su žinomu teisingu atsakymu, atitikimą originaliam Marxan kodui, tūkstančius automatinių testų ir galimybę gauti įrodytą optimumą. Pastarasis turi ir praktinę vertę – Kuršių marių pavyzdyje tas pats tikslas pasiekiamas 24 % pigiau.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Dabar – apie tai, ko dar nėra. Tai svarbiausia šio pristatymo dalis, nes būtent čia jūsų poreikiai turėtų nulemti tolesnio kūrimo prioritetus. Suskirsčiau trūkumus į dvi grupes: diegimą ir kasdienį naudojimą bei analitines galimybes.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Pirmoji grupė – tai, kas trukdo įrankį naudoti be programuotojo. Įdiegimas kol kas reikalauja techninių žinių. Sąsaja angliška. Nėra naudotojų paskyrų ir projektų dalijimosi. Kai kurios galimybės, pavyzdžiui, kitokio tikslo pasirinkimas – kai norime ne pigiausio tinklo, o daugiausia apsaugos už fiksuotą biudžetą – jau veikia programiniame branduolyje, bet dar neprijungtos prie internetinės programos.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Antroji grupė – analitinės galimybės. Artimiausias darbas – buveinės praradimo rizika: jau suprojektuota ir planuojama kitoje versijoje. Zonavimo uždaviniuose rizika dar nevertinama. Atkūrimo planavimui yra tik greitas apytikslis algoritmas ir vienas suskaidymo rodiklis; trūksta tinklo jungtumo indeksų ir buveinių būklių modelio. Taip pat yra eilė smulkesnių patobulinimų. Kurie iš jų jums svarbiausi – būtent tai norėtume išgirsti.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Trys žingsniai. Pirmasis jau suplanuotas – buveinės praradimo rizika kitoje versijoje. Antrasis – padaryti įrankį prieinamą be programuotojo: standartinis paketas, lietuviška sąsaja, visų galimybių prijungimas prie internetinės programos. Trečiasis priklauso nuo jūsų – bandomasis projektas vienoje saugomoje teritorijoje, kuris parodytų, ko iš tikrųjų reikia.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Bandomajam projektui reikėtų keturių dalykų: duomenų apie saugotinas vertybes, sąnaudų ar spaudimo sluoksnių, galiojančių taisyklių ir – svarbiausia – vieno realaus klausimo. Rezultatas – ne vienas „teisingas“ žemėlapis, o skaidrus ir pakartojamas planas su alternatyvomis, kurį galima aptarti su suinteresuotomis šalimis.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Ačiū. Labiausiai norėčiau išgirsti, kurie iš neišplėtotų dalykų jums būtų svarbiausi, ir ar yra teritorija, kurioje galėtume atlikti bandomąjį projektą.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pymarxan · saugomų teritorijų planavimas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pymarxan: duomenimis grįstas saugomų teritorijų planavimas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Kūrimo būklė, taikymas praktikoje ir dar neišplėtotos galimybės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Artūras Razinkovas-Baziukas · Klaipėdos universitetas · 2026 m. spalis</a:t>
            </a:r>
            <a:endParaRPr lang="en-US" sz="2000" dirty="0"/>
          </a:p>
        </p:txBody>
      </p:sp>
      <p:sp>
        <p:nvSpPr>
          <p:cNvPr id="4" name="title-circle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929030"/>
            <a:ext cx="427939" cy="4279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Sprendimai, kuriuos tenka priimti</a:t>
            </a:r>
            <a:endParaRPr lang="en-US" sz="3200" dirty="0"/>
          </a:p>
        </p:txBody>
      </p:sp>
      <p:sp>
        <p:nvSpPr>
          <p:cNvPr id="3" name="dec-card-0"/>
          <p:cNvSpPr/>
          <p:nvPr/>
        </p:nvSpPr>
        <p:spPr>
          <a:xfrm>
            <a:off x="548640" y="1463040"/>
            <a:ext cx="2011680" cy="34290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dec-0-circle"/>
          <p:cNvSpPr/>
          <p:nvPr/>
        </p:nvSpPr>
        <p:spPr>
          <a:xfrm>
            <a:off x="777240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dec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651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Plėsti tinklą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3375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Kurias teritorijas saugoti, kad pasiektume 30 % tikslą mažiausiomis sąnaudomis?</a:t>
            </a:r>
            <a:endParaRPr lang="en-US" sz="1400" dirty="0"/>
          </a:p>
        </p:txBody>
      </p:sp>
      <p:sp>
        <p:nvSpPr>
          <p:cNvPr id="8" name="dec-card-1"/>
          <p:cNvSpPr/>
          <p:nvPr/>
        </p:nvSpPr>
        <p:spPr>
          <a:xfrm>
            <a:off x="2816352" y="1463040"/>
            <a:ext cx="2011680" cy="34290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dec-1-circle"/>
          <p:cNvSpPr/>
          <p:nvPr/>
        </p:nvSpPr>
        <p:spPr>
          <a:xfrm>
            <a:off x="3044952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dec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517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44952" y="2651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Zonuoti teritoriją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044952" y="33375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Kur griežta apsauga, kur tausojantis naudojimas, kur atkūrimas?</a:t>
            </a:r>
            <a:endParaRPr lang="en-US" sz="1400" dirty="0"/>
          </a:p>
        </p:txBody>
      </p:sp>
      <p:sp>
        <p:nvSpPr>
          <p:cNvPr id="13" name="dec-card-2"/>
          <p:cNvSpPr/>
          <p:nvPr/>
        </p:nvSpPr>
        <p:spPr>
          <a:xfrm>
            <a:off x="5084064" y="1463040"/>
            <a:ext cx="2011680" cy="34290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dec-2-circle"/>
          <p:cNvSpPr/>
          <p:nvPr/>
        </p:nvSpPr>
        <p:spPr>
          <a:xfrm>
            <a:off x="5312664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ec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8229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12664" y="2651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Atkurti upes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312664" y="33375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Kurias užtvankas ar slenksčius šalinti, kad žuvys pasiektų daugiausia buveinių?</a:t>
            </a:r>
            <a:endParaRPr lang="en-US" sz="1400" dirty="0"/>
          </a:p>
        </p:txBody>
      </p:sp>
      <p:sp>
        <p:nvSpPr>
          <p:cNvPr id="18" name="dec-card-3"/>
          <p:cNvSpPr/>
          <p:nvPr/>
        </p:nvSpPr>
        <p:spPr>
          <a:xfrm>
            <a:off x="7351776" y="1463040"/>
            <a:ext cx="2011680" cy="34290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dec-3-circle"/>
          <p:cNvSpPr/>
          <p:nvPr/>
        </p:nvSpPr>
        <p:spPr>
          <a:xfrm>
            <a:off x="7580376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dec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5941" y="191292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80376" y="2651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Skirstyti atkūrimo lėšas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580376" y="33375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Kur investuoti, kad atkurtos buveinės susijungtų į vientisus plotus?</a:t>
            </a:r>
            <a:endParaRPr lang="en-US" sz="1400" dirty="0"/>
          </a:p>
        </p:txBody>
      </p:sp>
      <p:sp>
        <p:nvSpPr>
          <p:cNvPr id="23" name="dec-card-4"/>
          <p:cNvSpPr/>
          <p:nvPr/>
        </p:nvSpPr>
        <p:spPr>
          <a:xfrm>
            <a:off x="9619488" y="1463040"/>
            <a:ext cx="2011680" cy="342900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dec-4-circle"/>
          <p:cNvSpPr/>
          <p:nvPr/>
        </p:nvSpPr>
        <p:spPr>
          <a:xfrm>
            <a:off x="9848088" y="1737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dec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3653" y="1912925"/>
            <a:ext cx="380390" cy="38039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848088" y="2651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Valdyti riziką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9848088" y="333756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Kaip atsižvelgti į buveinių praradimo riziką ir klimato kaitą?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Visiems klausimams bendra: ribotas biudžetas, daug saugotinų vertybių ir aiškiai suformuluoti tikslai.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pymarxan</a:t>
            </a:r>
            <a:endParaRPr lang="en-US" sz="3200" dirty="0"/>
          </a:p>
        </p:txBody>
      </p:sp>
      <p:sp>
        <p:nvSpPr>
          <p:cNvPr id="3" name="step-card-0"/>
          <p:cNvSpPr/>
          <p:nvPr/>
        </p:nvSpPr>
        <p:spPr>
          <a:xfrm>
            <a:off x="548640" y="1417320"/>
            <a:ext cx="2468880" cy="29718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4" name="step-0-circle"/>
          <p:cNvSpPr/>
          <p:nvPr/>
        </p:nvSpPr>
        <p:spPr>
          <a:xfrm>
            <a:off x="777240" y="1645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Duomenys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71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Planavimo vienetai, buveinių ir rūšių paplitimas, sąnaudos ar spaudimas, esamos saugomos teritorijos</a:t>
            </a:r>
            <a:endParaRPr lang="en-US" sz="1400" dirty="0"/>
          </a:p>
        </p:txBody>
      </p:sp>
      <p:sp>
        <p:nvSpPr>
          <p:cNvPr id="8" name="step-arrow-0"/>
          <p:cNvSpPr/>
          <p:nvPr/>
        </p:nvSpPr>
        <p:spPr>
          <a:xfrm>
            <a:off x="3090672" y="2743200"/>
            <a:ext cx="219456" cy="32004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9" name="step-card-1"/>
          <p:cNvSpPr/>
          <p:nvPr/>
        </p:nvSpPr>
        <p:spPr>
          <a:xfrm>
            <a:off x="3383280" y="1417320"/>
            <a:ext cx="2468880" cy="29718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0" name="step-1-circle"/>
          <p:cNvSpPr/>
          <p:nvPr/>
        </p:nvSpPr>
        <p:spPr>
          <a:xfrm>
            <a:off x="3611880" y="1645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ep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181051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1188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Tikslai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971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Kiek kiekvienos vertybės išsaugoti, kas jau saugoma, ko negalima įtraukti</a:t>
            </a:r>
            <a:endParaRPr lang="en-US" sz="1400" dirty="0"/>
          </a:p>
        </p:txBody>
      </p:sp>
      <p:sp>
        <p:nvSpPr>
          <p:cNvPr id="14" name="step-arrow-1"/>
          <p:cNvSpPr/>
          <p:nvPr/>
        </p:nvSpPr>
        <p:spPr>
          <a:xfrm>
            <a:off x="5925312" y="2743200"/>
            <a:ext cx="219456" cy="32004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15" name="step-card-2"/>
          <p:cNvSpPr/>
          <p:nvPr/>
        </p:nvSpPr>
        <p:spPr>
          <a:xfrm>
            <a:off x="6217920" y="1417320"/>
            <a:ext cx="2468880" cy="29718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6" name="step-2-circle"/>
          <p:cNvSpPr/>
          <p:nvPr/>
        </p:nvSpPr>
        <p:spPr>
          <a:xfrm>
            <a:off x="6446520" y="16459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step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81051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Optimizavimas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971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Algoritmas peržiūri labai daug derinių ir randa pigiausią visus tikslus tenkinantį variantą</a:t>
            </a:r>
            <a:endParaRPr lang="en-US" sz="1400" dirty="0"/>
          </a:p>
        </p:txBody>
      </p:sp>
      <p:sp>
        <p:nvSpPr>
          <p:cNvPr id="20" name="step-arrow-2"/>
          <p:cNvSpPr/>
          <p:nvPr/>
        </p:nvSpPr>
        <p:spPr>
          <a:xfrm>
            <a:off x="8759952" y="2743200"/>
            <a:ext cx="219456" cy="320040"/>
          </a:xfrm>
          <a:prstGeom prst="rightArrow">
            <a:avLst/>
          </a:prstGeom>
          <a:solidFill>
            <a:schemeClr val="accent4"/>
          </a:solidFill>
          <a:ln/>
        </p:spPr>
      </p:sp>
      <p:sp>
        <p:nvSpPr>
          <p:cNvPr id="21" name="step-card-3"/>
          <p:cNvSpPr/>
          <p:nvPr/>
        </p:nvSpPr>
        <p:spPr>
          <a:xfrm>
            <a:off x="9052560" y="1417320"/>
            <a:ext cx="2468880" cy="29718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2" name="step-3-circle"/>
          <p:cNvSpPr/>
          <p:nvPr/>
        </p:nvSpPr>
        <p:spPr>
          <a:xfrm>
            <a:off x="9281160" y="16459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step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5752" y="181051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811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Rezultatai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971800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Žemėlapiai, tikslų įvykdymo lentelės, alternatyvos ir kiekvieno ploto svarba</a:t>
            </a:r>
            <a:endParaRPr lang="en-US" sz="1400" dirty="0"/>
          </a:p>
        </p:txBody>
      </p:sp>
      <p:sp>
        <p:nvSpPr>
          <p:cNvPr id="26" name="marxan-note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822960" y="4846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Marxan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 – plačiausiai pasaulyje naudojama saugomų teritorijų planavimo programa.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pymarxan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 – atvirasis jos atkūrimas Python kalba, papildytas tiksliaisiais sprendikliais, zonavimu, jungtumo ir upių moduliais bei internetine programa.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Kūrimo būklė (2026 m. spalis)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versijos per 5 mėnesius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(v0.1 → v0.45)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3 700+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automatinių testų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~33 000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programos kodo eilučių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internetinės programos skilčių</a:t>
            </a:r>
            <a:endParaRPr lang="en-US" sz="1400" dirty="0"/>
          </a:p>
        </p:txBody>
      </p:sp>
      <p:sp>
        <p:nvSpPr>
          <p:cNvPr id="11" name="ready-card"/>
          <p:cNvSpPr/>
          <p:nvPr/>
        </p:nvSpPr>
        <p:spPr>
          <a:xfrm>
            <a:off x="548640" y="3246120"/>
            <a:ext cx="539496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/>
        </p:spPr>
      </p:sp>
      <p:sp>
        <p:nvSpPr>
          <p:cNvPr id="12" name="missing-card"/>
          <p:cNvSpPr/>
          <p:nvPr/>
        </p:nvSpPr>
        <p:spPr>
          <a:xfrm>
            <a:off x="6217920" y="3246120"/>
            <a:ext cx="5394960" cy="2788920"/>
          </a:xfrm>
          <a:prstGeom prst="roundRect">
            <a:avLst>
              <a:gd name="adj" fmla="val 3934"/>
            </a:avLst>
          </a:prstGeom>
          <a:solidFill>
            <a:schemeClr val="bg2"/>
          </a:solidFill>
          <a:ln/>
        </p:spPr>
      </p:sp>
      <p:sp>
        <p:nvSpPr>
          <p:cNvPr id="13" name="ready-circle"/>
          <p:cNvSpPr/>
          <p:nvPr/>
        </p:nvSpPr>
        <p:spPr>
          <a:xfrm>
            <a:off x="777240" y="34747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ready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3595421"/>
            <a:ext cx="261518" cy="261518"/>
          </a:xfrm>
          <a:prstGeom prst="rect">
            <a:avLst/>
          </a:prstGeom>
        </p:spPr>
      </p:pic>
      <p:sp>
        <p:nvSpPr>
          <p:cNvPr id="15" name="missing-circle"/>
          <p:cNvSpPr/>
          <p:nvPr/>
        </p:nvSpPr>
        <p:spPr>
          <a:xfrm>
            <a:off x="6446520" y="34747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missing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221" y="3595421"/>
            <a:ext cx="261518" cy="26151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63040" y="3520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paruošta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7132320" y="3520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trūksta platinimui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1148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Visa Marxan šeima: Marxan, Marxan with Zones, Marxan with Connectivity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Tikslieji sprendikliai su optimalumo garantija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Internetinė programa, nereikalaujanti programavimo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Kiekvienas pakeitimas automatiškai tikrinamas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411480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Neplatinama per PyPI – diegiama iš GitHub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Sąsaja ir pagalba – tik anglų kalba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Išbandyta su viešais Marxan duomenų rinkiniais ir sintetiniais scenarijais, dar ne su administracijos duomenimis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Pagrindinės galimybės</a:t>
            </a:r>
            <a:endParaRPr lang="en-US" sz="3200" dirty="0"/>
          </a:p>
        </p:txBody>
      </p:sp>
      <p:sp>
        <p:nvSpPr>
          <p:cNvPr id="3" name="cap-card-0"/>
          <p:cNvSpPr/>
          <p:nvPr/>
        </p:nvSpPr>
        <p:spPr>
          <a:xfrm>
            <a:off x="54864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cap-0-circle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ap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845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Teritorijų atranka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Pigiausias tinklas, tenkinantis visus tikslus; kompaktiškumo svertas (BLM) mažina fragmentaciją.</a:t>
            </a:r>
            <a:endParaRPr lang="en-US" sz="1400" dirty="0"/>
          </a:p>
        </p:txBody>
      </p:sp>
      <p:sp>
        <p:nvSpPr>
          <p:cNvPr id="8" name="cap-card-1"/>
          <p:cNvSpPr/>
          <p:nvPr/>
        </p:nvSpPr>
        <p:spPr>
          <a:xfrm>
            <a:off x="429768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cap-1-circle"/>
          <p:cNvSpPr/>
          <p:nvPr/>
        </p:nvSpPr>
        <p:spPr>
          <a:xfrm>
            <a:off x="45262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ap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899" y="18452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49240" y="16916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Zonavimas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Kelios valdymo zonos su skirtingomis sąnaudomis ir indėliu į tikslus (Marxan with Zones).</a:t>
            </a:r>
            <a:endParaRPr lang="en-US" sz="1400" dirty="0"/>
          </a:p>
        </p:txBody>
      </p:sp>
      <p:sp>
        <p:nvSpPr>
          <p:cNvPr id="13" name="cap-card-2"/>
          <p:cNvSpPr/>
          <p:nvPr/>
        </p:nvSpPr>
        <p:spPr>
          <a:xfrm>
            <a:off x="8046720" y="141732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cap-2-circle"/>
          <p:cNvSpPr/>
          <p:nvPr/>
        </p:nvSpPr>
        <p:spPr>
          <a:xfrm>
            <a:off x="827532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cap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8939" y="18452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98280" y="16916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Jungtumas ir klimatas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4688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Ekologiniai koridoriai, grandinių teorija, klimato kaitos greitis ir refugijos.</a:t>
            </a:r>
            <a:endParaRPr lang="en-US" sz="1400" dirty="0"/>
          </a:p>
        </p:txBody>
      </p:sp>
      <p:sp>
        <p:nvSpPr>
          <p:cNvPr id="18" name="cap-card-3"/>
          <p:cNvSpPr/>
          <p:nvPr/>
        </p:nvSpPr>
        <p:spPr>
          <a:xfrm>
            <a:off x="54864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cap-3-circle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cap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" y="422269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4069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Upių jungtumas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Kuriuos barjerus šalinti už turimą biudžetą (DCI indeksas, įrodytas optimumas).</a:t>
            </a:r>
            <a:endParaRPr lang="en-US" sz="1400" dirty="0"/>
          </a:p>
        </p:txBody>
      </p:sp>
      <p:sp>
        <p:nvSpPr>
          <p:cNvPr id="23" name="cap-card-4"/>
          <p:cNvSpPr/>
          <p:nvPr/>
        </p:nvSpPr>
        <p:spPr>
          <a:xfrm>
            <a:off x="429768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cap-4-circle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cap-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899" y="422269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069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Prioritetų žemėlapis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Zonation tipo tęstinis prioritetų reitingas visai teritorijai, net milijonui langelių.</a:t>
            </a:r>
            <a:endParaRPr lang="en-US" sz="1400" dirty="0"/>
          </a:p>
        </p:txBody>
      </p:sp>
      <p:sp>
        <p:nvSpPr>
          <p:cNvPr id="28" name="cap-card-5"/>
          <p:cNvSpPr/>
          <p:nvPr/>
        </p:nvSpPr>
        <p:spPr>
          <a:xfrm>
            <a:off x="8046720" y="379476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cap-5-circle"/>
          <p:cNvSpPr/>
          <p:nvPr/>
        </p:nvSpPr>
        <p:spPr>
          <a:xfrm>
            <a:off x="8275320" y="4069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cap-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8939" y="4222699"/>
            <a:ext cx="332842" cy="33284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98280" y="4069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Ataskaitos ir politika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463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30×30 vertinimas, spragų analizė, naštos pasiskirstymas, atsparumas scenarijams, WDPA importas.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Pavyzdys: Kuršių marios ir Klaipėdos priekrantė</a:t>
            </a:r>
            <a:endParaRPr lang="en-US" sz="3200" dirty="0"/>
          </a:p>
        </p:txBody>
      </p:sp>
      <p:pic>
        <p:nvPicPr>
          <p:cNvPr id="3" name="baltic-map" descr="/home/razinka/marxan/docs/presentations/2026-10-20-saugomos-teritorijos/baltic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10515600" cy="37388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vertybės, 256 vienetai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nendrynai, makrofitai, starkių nerštavietės, vandens paukščiai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Tikslas – po 30 %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kiekvienos vertybės regione; 2 esamos ST užfiksuotos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24 % pigiau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tikslusis sprendimas (49,7) prieš klasikinę euristiką (65,1)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6355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Sintetinis demonstracinis scenarijus (examples/baltic_marine_planning.py)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Spragų analizė: prieš ir po</a:t>
            </a:r>
            <a:endParaRPr lang="en-US" sz="3200" dirty="0"/>
          </a:p>
        </p:txBody>
      </p:sp>
      <p:graphicFrame>
        <p:nvGraphicFramePr>
          <p:cNvPr id="3" name="gap-chart" descr=""/>
          <p:cNvGraphicFramePr/>
          <p:nvPr/>
        </p:nvGraphicFramePr>
        <p:xfrm>
          <a:off x="548640" y="128016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4173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0–2,4 %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103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tiek kiekvienos vertybės apima esamos saugomos teritorijos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971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30 %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3657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pasiekia siūlomas tinklas visoms keturioms vertybėms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4526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86 %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5212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starkių nerštavietės apsaugomos „pakeliui“ – kartu su kitomis vertybėmis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Zonavimas: nendrynų mozaika Kuršių nerijoje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Nendrynų įvairovė didžiausia, kai pjaunami ir nepjaunami ruožai kaitaliojasi. Kiekviena jų riba gauna premiją, todėl planas skaido nendryną, o ne jungia jį į ištisus plotus.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Pigiausias planas (be premijos)</a:t>
            </a:r>
            <a:endParaRPr lang="en-US" sz="1400" dirty="0"/>
          </a:p>
        </p:txBody>
      </p:sp>
      <p:sp>
        <p:nvSpPr>
          <p:cNvPr id="5" name="mosaic-2.25-0"/>
          <p:cNvSpPr/>
          <p:nvPr/>
        </p:nvSpPr>
        <p:spPr>
          <a:xfrm>
            <a:off x="548640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" name="mosaic-2.25-1"/>
          <p:cNvSpPr/>
          <p:nvPr/>
        </p:nvSpPr>
        <p:spPr>
          <a:xfrm>
            <a:off x="761414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" name="mosaic-2.25-2"/>
          <p:cNvSpPr/>
          <p:nvPr/>
        </p:nvSpPr>
        <p:spPr>
          <a:xfrm>
            <a:off x="97418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saic-2.25-3"/>
          <p:cNvSpPr/>
          <p:nvPr/>
        </p:nvSpPr>
        <p:spPr>
          <a:xfrm>
            <a:off x="118696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mosaic-2.25-4"/>
          <p:cNvSpPr/>
          <p:nvPr/>
        </p:nvSpPr>
        <p:spPr>
          <a:xfrm>
            <a:off x="1399735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mosaic-2.25-5"/>
          <p:cNvSpPr/>
          <p:nvPr/>
        </p:nvSpPr>
        <p:spPr>
          <a:xfrm>
            <a:off x="1612509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mosaic-2.25-6"/>
          <p:cNvSpPr/>
          <p:nvPr/>
        </p:nvSpPr>
        <p:spPr>
          <a:xfrm>
            <a:off x="1825283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mosaic-2.25-7"/>
          <p:cNvSpPr/>
          <p:nvPr/>
        </p:nvSpPr>
        <p:spPr>
          <a:xfrm>
            <a:off x="2038057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mosaic-2.25-8"/>
          <p:cNvSpPr/>
          <p:nvPr/>
        </p:nvSpPr>
        <p:spPr>
          <a:xfrm>
            <a:off x="2250831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mosaic-2.25-9"/>
          <p:cNvSpPr/>
          <p:nvPr/>
        </p:nvSpPr>
        <p:spPr>
          <a:xfrm>
            <a:off x="2463605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mosaic-2.25-10"/>
          <p:cNvSpPr/>
          <p:nvPr/>
        </p:nvSpPr>
        <p:spPr>
          <a:xfrm>
            <a:off x="267637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mosaic-2.25-11"/>
          <p:cNvSpPr/>
          <p:nvPr/>
        </p:nvSpPr>
        <p:spPr>
          <a:xfrm>
            <a:off x="288915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mosaic-2.25-12"/>
          <p:cNvSpPr/>
          <p:nvPr/>
        </p:nvSpPr>
        <p:spPr>
          <a:xfrm>
            <a:off x="3101926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mosaic-2.25-13"/>
          <p:cNvSpPr/>
          <p:nvPr/>
        </p:nvSpPr>
        <p:spPr>
          <a:xfrm>
            <a:off x="3314700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mosaic-2.25-14"/>
          <p:cNvSpPr/>
          <p:nvPr/>
        </p:nvSpPr>
        <p:spPr>
          <a:xfrm>
            <a:off x="3527474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mosaic-2.25-15"/>
          <p:cNvSpPr/>
          <p:nvPr/>
        </p:nvSpPr>
        <p:spPr>
          <a:xfrm>
            <a:off x="374024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mosaic-2.25-16"/>
          <p:cNvSpPr/>
          <p:nvPr/>
        </p:nvSpPr>
        <p:spPr>
          <a:xfrm>
            <a:off x="395302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mosaic-2.25-17"/>
          <p:cNvSpPr/>
          <p:nvPr/>
        </p:nvSpPr>
        <p:spPr>
          <a:xfrm>
            <a:off x="4165795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mosaic-2.25-18"/>
          <p:cNvSpPr/>
          <p:nvPr/>
        </p:nvSpPr>
        <p:spPr>
          <a:xfrm>
            <a:off x="4378569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4" name="mosaic-2.25-19"/>
          <p:cNvSpPr/>
          <p:nvPr/>
        </p:nvSpPr>
        <p:spPr>
          <a:xfrm>
            <a:off x="4591343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5" name="mosaic-2.25-20"/>
          <p:cNvSpPr/>
          <p:nvPr/>
        </p:nvSpPr>
        <p:spPr>
          <a:xfrm>
            <a:off x="4804117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mosaic-2.25-21"/>
          <p:cNvSpPr/>
          <p:nvPr/>
        </p:nvSpPr>
        <p:spPr>
          <a:xfrm>
            <a:off x="5016891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mosaic-2.25-22"/>
          <p:cNvSpPr/>
          <p:nvPr/>
        </p:nvSpPr>
        <p:spPr>
          <a:xfrm>
            <a:off x="5229665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mosaic-2.25-23"/>
          <p:cNvSpPr/>
          <p:nvPr/>
        </p:nvSpPr>
        <p:spPr>
          <a:xfrm>
            <a:off x="544243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mosaic-2.25-24"/>
          <p:cNvSpPr/>
          <p:nvPr/>
        </p:nvSpPr>
        <p:spPr>
          <a:xfrm>
            <a:off x="565521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mosaic-2.25-25"/>
          <p:cNvSpPr/>
          <p:nvPr/>
        </p:nvSpPr>
        <p:spPr>
          <a:xfrm>
            <a:off x="5867986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mosaic-2.25-26"/>
          <p:cNvSpPr/>
          <p:nvPr/>
        </p:nvSpPr>
        <p:spPr>
          <a:xfrm>
            <a:off x="6080760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mosaic-2.25-27"/>
          <p:cNvSpPr/>
          <p:nvPr/>
        </p:nvSpPr>
        <p:spPr>
          <a:xfrm>
            <a:off x="6293534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mosaic-2.25-28"/>
          <p:cNvSpPr/>
          <p:nvPr/>
        </p:nvSpPr>
        <p:spPr>
          <a:xfrm>
            <a:off x="650630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mosaic-2.25-29"/>
          <p:cNvSpPr/>
          <p:nvPr/>
        </p:nvSpPr>
        <p:spPr>
          <a:xfrm>
            <a:off x="671908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5" name="mosaic-2.25-30"/>
          <p:cNvSpPr/>
          <p:nvPr/>
        </p:nvSpPr>
        <p:spPr>
          <a:xfrm>
            <a:off x="6931855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mosaic-2.25-31"/>
          <p:cNvSpPr/>
          <p:nvPr/>
        </p:nvSpPr>
        <p:spPr>
          <a:xfrm>
            <a:off x="7144629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mosaic-2.25-32"/>
          <p:cNvSpPr/>
          <p:nvPr/>
        </p:nvSpPr>
        <p:spPr>
          <a:xfrm>
            <a:off x="7357403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mosaic-2.25-33"/>
          <p:cNvSpPr/>
          <p:nvPr/>
        </p:nvSpPr>
        <p:spPr>
          <a:xfrm>
            <a:off x="7570177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mosaic-2.25-34"/>
          <p:cNvSpPr/>
          <p:nvPr/>
        </p:nvSpPr>
        <p:spPr>
          <a:xfrm>
            <a:off x="7782951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0" name="mosaic-2.25-35"/>
          <p:cNvSpPr/>
          <p:nvPr/>
        </p:nvSpPr>
        <p:spPr>
          <a:xfrm>
            <a:off x="7995725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1" name="mosaic-2.25-36"/>
          <p:cNvSpPr/>
          <p:nvPr/>
        </p:nvSpPr>
        <p:spPr>
          <a:xfrm>
            <a:off x="8208498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2" name="mosaic-2.25-37"/>
          <p:cNvSpPr/>
          <p:nvPr/>
        </p:nvSpPr>
        <p:spPr>
          <a:xfrm>
            <a:off x="842127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3" name="mosaic-2.25-38"/>
          <p:cNvSpPr/>
          <p:nvPr/>
        </p:nvSpPr>
        <p:spPr>
          <a:xfrm>
            <a:off x="8634046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mosaic-2.25-39"/>
          <p:cNvSpPr/>
          <p:nvPr/>
        </p:nvSpPr>
        <p:spPr>
          <a:xfrm>
            <a:off x="8846820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5" name="mosaic-2.25-40"/>
          <p:cNvSpPr/>
          <p:nvPr/>
        </p:nvSpPr>
        <p:spPr>
          <a:xfrm>
            <a:off x="9059594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6" name="mosaic-2.25-41"/>
          <p:cNvSpPr/>
          <p:nvPr/>
        </p:nvSpPr>
        <p:spPr>
          <a:xfrm>
            <a:off x="927236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7" name="mosaic-2.25-42"/>
          <p:cNvSpPr/>
          <p:nvPr/>
        </p:nvSpPr>
        <p:spPr>
          <a:xfrm>
            <a:off x="948514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mosaic-2.25-43"/>
          <p:cNvSpPr/>
          <p:nvPr/>
        </p:nvSpPr>
        <p:spPr>
          <a:xfrm>
            <a:off x="9697915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9" name="mosaic-2.25-44"/>
          <p:cNvSpPr/>
          <p:nvPr/>
        </p:nvSpPr>
        <p:spPr>
          <a:xfrm>
            <a:off x="9910689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0" name="mosaic-2.25-45"/>
          <p:cNvSpPr/>
          <p:nvPr/>
        </p:nvSpPr>
        <p:spPr>
          <a:xfrm>
            <a:off x="10123463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1" name="mosaic-2.25-46"/>
          <p:cNvSpPr/>
          <p:nvPr/>
        </p:nvSpPr>
        <p:spPr>
          <a:xfrm>
            <a:off x="10336237" y="242316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2" name="mosaic-2.25-47"/>
          <p:cNvSpPr/>
          <p:nvPr/>
        </p:nvSpPr>
        <p:spPr>
          <a:xfrm>
            <a:off x="10549011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mosaic-2.25-48"/>
          <p:cNvSpPr/>
          <p:nvPr/>
        </p:nvSpPr>
        <p:spPr>
          <a:xfrm>
            <a:off x="10761785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mosaic-2.25-49"/>
          <p:cNvSpPr/>
          <p:nvPr/>
        </p:nvSpPr>
        <p:spPr>
          <a:xfrm>
            <a:off x="10974558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5" name="mosaic-2.25-50"/>
          <p:cNvSpPr/>
          <p:nvPr/>
        </p:nvSpPr>
        <p:spPr>
          <a:xfrm>
            <a:off x="11187332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mosaic-2.25-51"/>
          <p:cNvSpPr/>
          <p:nvPr/>
        </p:nvSpPr>
        <p:spPr>
          <a:xfrm>
            <a:off x="11400106" y="242316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548640" y="3063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Mozaika (premija 1,0 k€ už kiekvieną ribą)</a:t>
            </a:r>
            <a:endParaRPr lang="en-US" sz="1400" dirty="0"/>
          </a:p>
        </p:txBody>
      </p:sp>
      <p:sp>
        <p:nvSpPr>
          <p:cNvPr id="58" name="mosaic-3.35-0"/>
          <p:cNvSpPr/>
          <p:nvPr/>
        </p:nvSpPr>
        <p:spPr>
          <a:xfrm>
            <a:off x="548640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9" name="mosaic-3.35-1"/>
          <p:cNvSpPr/>
          <p:nvPr/>
        </p:nvSpPr>
        <p:spPr>
          <a:xfrm>
            <a:off x="761414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0" name="mosaic-3.35-2"/>
          <p:cNvSpPr/>
          <p:nvPr/>
        </p:nvSpPr>
        <p:spPr>
          <a:xfrm>
            <a:off x="974188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mosaic-3.35-3"/>
          <p:cNvSpPr/>
          <p:nvPr/>
        </p:nvSpPr>
        <p:spPr>
          <a:xfrm>
            <a:off x="118696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2" name="mosaic-3.35-4"/>
          <p:cNvSpPr/>
          <p:nvPr/>
        </p:nvSpPr>
        <p:spPr>
          <a:xfrm>
            <a:off x="1399735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3" name="mosaic-3.35-5"/>
          <p:cNvSpPr/>
          <p:nvPr/>
        </p:nvSpPr>
        <p:spPr>
          <a:xfrm>
            <a:off x="1612509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4" name="mosaic-3.35-6"/>
          <p:cNvSpPr/>
          <p:nvPr/>
        </p:nvSpPr>
        <p:spPr>
          <a:xfrm>
            <a:off x="1825283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5" name="mosaic-3.35-7"/>
          <p:cNvSpPr/>
          <p:nvPr/>
        </p:nvSpPr>
        <p:spPr>
          <a:xfrm>
            <a:off x="2038057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6" name="mosaic-3.35-8"/>
          <p:cNvSpPr/>
          <p:nvPr/>
        </p:nvSpPr>
        <p:spPr>
          <a:xfrm>
            <a:off x="2250831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7" name="mosaic-3.35-9"/>
          <p:cNvSpPr/>
          <p:nvPr/>
        </p:nvSpPr>
        <p:spPr>
          <a:xfrm>
            <a:off x="2463605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8" name="mosaic-3.35-10"/>
          <p:cNvSpPr/>
          <p:nvPr/>
        </p:nvSpPr>
        <p:spPr>
          <a:xfrm>
            <a:off x="267637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mosaic-3.35-11"/>
          <p:cNvSpPr/>
          <p:nvPr/>
        </p:nvSpPr>
        <p:spPr>
          <a:xfrm>
            <a:off x="288915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0" name="mosaic-3.35-12"/>
          <p:cNvSpPr/>
          <p:nvPr/>
        </p:nvSpPr>
        <p:spPr>
          <a:xfrm>
            <a:off x="3101926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1" name="mosaic-3.35-13"/>
          <p:cNvSpPr/>
          <p:nvPr/>
        </p:nvSpPr>
        <p:spPr>
          <a:xfrm>
            <a:off x="3314700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2" name="mosaic-3.35-14"/>
          <p:cNvSpPr/>
          <p:nvPr/>
        </p:nvSpPr>
        <p:spPr>
          <a:xfrm>
            <a:off x="3527474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3" name="mosaic-3.35-15"/>
          <p:cNvSpPr/>
          <p:nvPr/>
        </p:nvSpPr>
        <p:spPr>
          <a:xfrm>
            <a:off x="374024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4" name="mosaic-3.35-16"/>
          <p:cNvSpPr/>
          <p:nvPr/>
        </p:nvSpPr>
        <p:spPr>
          <a:xfrm>
            <a:off x="3953022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5" name="mosaic-3.35-17"/>
          <p:cNvSpPr/>
          <p:nvPr/>
        </p:nvSpPr>
        <p:spPr>
          <a:xfrm>
            <a:off x="4165795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6" name="mosaic-3.35-18"/>
          <p:cNvSpPr/>
          <p:nvPr/>
        </p:nvSpPr>
        <p:spPr>
          <a:xfrm>
            <a:off x="4378569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7" name="mosaic-3.35-19"/>
          <p:cNvSpPr/>
          <p:nvPr/>
        </p:nvSpPr>
        <p:spPr>
          <a:xfrm>
            <a:off x="4591343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8" name="mosaic-3.35-20"/>
          <p:cNvSpPr/>
          <p:nvPr/>
        </p:nvSpPr>
        <p:spPr>
          <a:xfrm>
            <a:off x="4804117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9" name="mosaic-3.35-21"/>
          <p:cNvSpPr/>
          <p:nvPr/>
        </p:nvSpPr>
        <p:spPr>
          <a:xfrm>
            <a:off x="5016891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0" name="mosaic-3.35-22"/>
          <p:cNvSpPr/>
          <p:nvPr/>
        </p:nvSpPr>
        <p:spPr>
          <a:xfrm>
            <a:off x="5229665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1" name="mosaic-3.35-23"/>
          <p:cNvSpPr/>
          <p:nvPr/>
        </p:nvSpPr>
        <p:spPr>
          <a:xfrm>
            <a:off x="544243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2" name="mosaic-3.35-24"/>
          <p:cNvSpPr/>
          <p:nvPr/>
        </p:nvSpPr>
        <p:spPr>
          <a:xfrm>
            <a:off x="565521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3" name="mosaic-3.35-25"/>
          <p:cNvSpPr/>
          <p:nvPr/>
        </p:nvSpPr>
        <p:spPr>
          <a:xfrm>
            <a:off x="5867986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4" name="mosaic-3.35-26"/>
          <p:cNvSpPr/>
          <p:nvPr/>
        </p:nvSpPr>
        <p:spPr>
          <a:xfrm>
            <a:off x="6080760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5" name="mosaic-3.35-27"/>
          <p:cNvSpPr/>
          <p:nvPr/>
        </p:nvSpPr>
        <p:spPr>
          <a:xfrm>
            <a:off x="6293534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6" name="mosaic-3.35-28"/>
          <p:cNvSpPr/>
          <p:nvPr/>
        </p:nvSpPr>
        <p:spPr>
          <a:xfrm>
            <a:off x="650630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7" name="mosaic-3.35-29"/>
          <p:cNvSpPr/>
          <p:nvPr/>
        </p:nvSpPr>
        <p:spPr>
          <a:xfrm>
            <a:off x="671908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8" name="mosaic-3.35-30"/>
          <p:cNvSpPr/>
          <p:nvPr/>
        </p:nvSpPr>
        <p:spPr>
          <a:xfrm>
            <a:off x="6931855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89" name="mosaic-3.35-31"/>
          <p:cNvSpPr/>
          <p:nvPr/>
        </p:nvSpPr>
        <p:spPr>
          <a:xfrm>
            <a:off x="7144629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0" name="mosaic-3.35-32"/>
          <p:cNvSpPr/>
          <p:nvPr/>
        </p:nvSpPr>
        <p:spPr>
          <a:xfrm>
            <a:off x="7357403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1" name="mosaic-3.35-33"/>
          <p:cNvSpPr/>
          <p:nvPr/>
        </p:nvSpPr>
        <p:spPr>
          <a:xfrm>
            <a:off x="7570177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2" name="mosaic-3.35-34"/>
          <p:cNvSpPr/>
          <p:nvPr/>
        </p:nvSpPr>
        <p:spPr>
          <a:xfrm>
            <a:off x="7782951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3" name="mosaic-3.35-35"/>
          <p:cNvSpPr/>
          <p:nvPr/>
        </p:nvSpPr>
        <p:spPr>
          <a:xfrm>
            <a:off x="7995725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4" name="mosaic-3.35-36"/>
          <p:cNvSpPr/>
          <p:nvPr/>
        </p:nvSpPr>
        <p:spPr>
          <a:xfrm>
            <a:off x="8208498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5" name="mosaic-3.35-37"/>
          <p:cNvSpPr/>
          <p:nvPr/>
        </p:nvSpPr>
        <p:spPr>
          <a:xfrm>
            <a:off x="842127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6" name="mosaic-3.35-38"/>
          <p:cNvSpPr/>
          <p:nvPr/>
        </p:nvSpPr>
        <p:spPr>
          <a:xfrm>
            <a:off x="8634046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7" name="mosaic-3.35-39"/>
          <p:cNvSpPr/>
          <p:nvPr/>
        </p:nvSpPr>
        <p:spPr>
          <a:xfrm>
            <a:off x="8846820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8" name="mosaic-3.35-40"/>
          <p:cNvSpPr/>
          <p:nvPr/>
        </p:nvSpPr>
        <p:spPr>
          <a:xfrm>
            <a:off x="9059594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9" name="mosaic-3.35-41"/>
          <p:cNvSpPr/>
          <p:nvPr/>
        </p:nvSpPr>
        <p:spPr>
          <a:xfrm>
            <a:off x="927236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0" name="mosaic-3.35-42"/>
          <p:cNvSpPr/>
          <p:nvPr/>
        </p:nvSpPr>
        <p:spPr>
          <a:xfrm>
            <a:off x="948514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1" name="mosaic-3.35-43"/>
          <p:cNvSpPr/>
          <p:nvPr/>
        </p:nvSpPr>
        <p:spPr>
          <a:xfrm>
            <a:off x="9697915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2" name="mosaic-3.35-44"/>
          <p:cNvSpPr/>
          <p:nvPr/>
        </p:nvSpPr>
        <p:spPr>
          <a:xfrm>
            <a:off x="9910689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3" name="mosaic-3.35-45"/>
          <p:cNvSpPr/>
          <p:nvPr/>
        </p:nvSpPr>
        <p:spPr>
          <a:xfrm>
            <a:off x="10123463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4" name="mosaic-3.35-46"/>
          <p:cNvSpPr/>
          <p:nvPr/>
        </p:nvSpPr>
        <p:spPr>
          <a:xfrm>
            <a:off x="10336237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5" name="mosaic-3.35-47"/>
          <p:cNvSpPr/>
          <p:nvPr/>
        </p:nvSpPr>
        <p:spPr>
          <a:xfrm>
            <a:off x="10549011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6" name="mosaic-3.35-48"/>
          <p:cNvSpPr/>
          <p:nvPr/>
        </p:nvSpPr>
        <p:spPr>
          <a:xfrm>
            <a:off x="10761785" y="3429000"/>
            <a:ext cx="189914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7" name="mosaic-3.35-49"/>
          <p:cNvSpPr/>
          <p:nvPr/>
        </p:nvSpPr>
        <p:spPr>
          <a:xfrm>
            <a:off x="10974558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8" name="mosaic-3.35-50"/>
          <p:cNvSpPr/>
          <p:nvPr/>
        </p:nvSpPr>
        <p:spPr>
          <a:xfrm>
            <a:off x="11187332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9" name="mosaic-3.35-51"/>
          <p:cNvSpPr/>
          <p:nvPr/>
        </p:nvSpPr>
        <p:spPr>
          <a:xfrm>
            <a:off x="11400106" y="3429000"/>
            <a:ext cx="18991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48640" y="3950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Smiltynė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4057650" y="3950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Juodkrantė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290017" y="3950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Pervalka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7995725" y="3950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Preila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9802544" y="3950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Nida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83680" y="4352544"/>
            <a:ext cx="5029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Smiltynė (šiaurė) → siena (pietūs), 1 langelis = 1 km</a:t>
            </a:r>
            <a:endParaRPr lang="en-US" sz="1200" dirty="0"/>
          </a:p>
        </p:txBody>
      </p:sp>
      <p:sp>
        <p:nvSpPr>
          <p:cNvPr id="116" name="mosaic-legend-0"/>
          <p:cNvSpPr/>
          <p:nvPr/>
        </p:nvSpPr>
        <p:spPr>
          <a:xfrm>
            <a:off x="548640" y="4389120"/>
            <a:ext cx="228600" cy="2286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68680" y="4352544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Pjaunama šį sezoną</a:t>
            </a:r>
            <a:endParaRPr lang="en-US" sz="1400" dirty="0"/>
          </a:p>
        </p:txBody>
      </p:sp>
      <p:sp>
        <p:nvSpPr>
          <p:cNvPr id="118" name="mosaic-legend-1"/>
          <p:cNvSpPr/>
          <p:nvPr/>
        </p:nvSpPr>
        <p:spPr>
          <a:xfrm>
            <a:off x="3474720" y="4389120"/>
            <a:ext cx="228600" cy="2286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794760" y="4352544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Paliekama (sena nendrė)</a:t>
            </a:r>
            <a:endParaRPr lang="en-US" sz="1400" dirty="0"/>
          </a:p>
        </p:txBody>
      </p:sp>
      <p:sp>
        <p:nvSpPr>
          <p:cNvPr id="120" name="Text 118"/>
          <p:cNvSpPr txBox="1"/>
          <p:nvPr/>
        </p:nvSpPr>
        <p:spPr>
          <a:xfrm>
            <a:off x="548640" y="4892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31</a:t>
            </a:r>
            <a:endParaRPr lang="en-US" sz="3600" dirty="0"/>
          </a:p>
        </p:txBody>
      </p:sp>
      <p:sp>
        <p:nvSpPr>
          <p:cNvPr id="121" name="Text 119"/>
          <p:cNvSpPr txBox="1"/>
          <p:nvPr/>
        </p:nvSpPr>
        <p:spPr>
          <a:xfrm>
            <a:off x="548640" y="56235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ribų tarp pjaunamų ir nepjaunamų ruožų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4297680" y="4892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→ 9 km</a:t>
            </a:r>
            <a:endParaRPr lang="en-US" sz="3600" dirty="0"/>
          </a:p>
        </p:txBody>
      </p:sp>
      <p:sp>
        <p:nvSpPr>
          <p:cNvPr id="123" name="Text 121"/>
          <p:cNvSpPr txBox="1"/>
          <p:nvPr/>
        </p:nvSpPr>
        <p:spPr>
          <a:xfrm>
            <a:off x="4297680" y="56235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ilgiausias vientisas nepjaunamas ruožas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46720" y="4892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+12,6 k€</a:t>
            </a:r>
            <a:endParaRPr lang="en-US" sz="3600" dirty="0"/>
          </a:p>
        </p:txBody>
      </p:sp>
      <p:sp>
        <p:nvSpPr>
          <p:cNvPr id="125" name="Text 123"/>
          <p:cNvSpPr txBox="1"/>
          <p:nvPr/>
        </p:nvSpPr>
        <p:spPr>
          <a:xfrm>
            <a:off x="8046720" y="56235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papildomos pjovimo išlaidos už mozaiką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6126480" y="6355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Sintetinis scenarijus (examples/curonian_spit_reedbeds.py)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Upių atkūrimas: kuriuos barjerus šalinti</a:t>
            </a:r>
            <a:endParaRPr lang="en-US" sz="3200" dirty="0"/>
          </a:p>
        </p:txBody>
      </p:sp>
      <p:pic>
        <p:nvPicPr>
          <p:cNvPr id="3" name="river-map" descr="/home/razinka/marxan/docs/presentations/2026-10-20-saugomos-teritorijos/river_network_optimization_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3865856"/>
          </a:xfrm>
          <a:prstGeom prst="rect">
            <a:avLst/>
          </a:prstGeom>
        </p:spPr>
      </p:pic>
      <p:pic>
        <p:nvPicPr>
          <p:cNvPr id="4" name="dci-frontier" descr="/home/razinka/marxan/docs/presentations/2026-10-20-saugomos-teritorijos/dci_budget_frontier_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25880"/>
            <a:ext cx="3931920" cy="242988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680960" y="39319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Žuvų migracijai svarbus upių tinklo jungtumas (DCI indeksas)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Optimalus barjerų rinkinys už turimą biudžetą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Kreivė rodo, kiek jungtumo nuperka kiekvienas papildomas euras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Įkeliami HydroRIVERS ar nacionaliniai upių duomenys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tai atrodytų darbe</a:t>
            </a:r>
            <a:endParaRPr lang="en-US" sz="3200" dirty="0"/>
          </a:p>
        </p:txBody>
      </p:sp>
      <p:sp>
        <p:nvSpPr>
          <p:cNvPr id="3" name="wf-num-0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17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Įkelti duomenis: Marxan failai, rastrai, GIS sluoksniai</a:t>
            </a:r>
            <a:endParaRPr lang="en-US" sz="1600" dirty="0"/>
          </a:p>
        </p:txBody>
      </p:sp>
      <p:sp>
        <p:nvSpPr>
          <p:cNvPr id="6" name="wf-num-1"/>
          <p:cNvSpPr/>
          <p:nvPr/>
        </p:nvSpPr>
        <p:spPr>
          <a:xfrm>
            <a:off x="548640" y="2286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286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Nustatyti tikslus ir esamas saugomas teritorijas</a:t>
            </a:r>
            <a:endParaRPr lang="en-US" sz="1600" dirty="0"/>
          </a:p>
        </p:txBody>
      </p:sp>
      <p:sp>
        <p:nvSpPr>
          <p:cNvPr id="9" name="wf-num-2"/>
          <p:cNvSpPr/>
          <p:nvPr/>
        </p:nvSpPr>
        <p:spPr>
          <a:xfrm>
            <a:off x="548640" y="3154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546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Paleisti skaičiavimą internetinėje programoje</a:t>
            </a:r>
            <a:endParaRPr lang="en-US" sz="1600" dirty="0"/>
          </a:p>
        </p:txBody>
      </p:sp>
      <p:sp>
        <p:nvSpPr>
          <p:cNvPr id="12" name="wf-num-3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0233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Palyginti alternatyvas ir scenarijus</a:t>
            </a:r>
            <a:endParaRPr lang="en-US" sz="1600" dirty="0"/>
          </a:p>
        </p:txBody>
      </p:sp>
      <p:sp>
        <p:nvSpPr>
          <p:cNvPr id="15" name="wf-num-4"/>
          <p:cNvSpPr/>
          <p:nvPr/>
        </p:nvSpPr>
        <p:spPr>
          <a:xfrm>
            <a:off x="548640" y="4892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Eksportuoti žemėlapius ir ataskaitas sprendimams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60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Analitikai tą patį gali atlikti Python skriptuose – pakartojamai ir dokumentuotai.</a:t>
            </a:r>
            <a:endParaRPr lang="en-US" sz="1400" dirty="0"/>
          </a:p>
        </p:txBody>
      </p:sp>
      <p:sp>
        <p:nvSpPr>
          <p:cNvPr id="19" name="app-frame"/>
          <p:cNvSpPr/>
          <p:nvPr/>
        </p:nvSpPr>
        <p:spPr>
          <a:xfrm>
            <a:off x="6583680" y="1280160"/>
            <a:ext cx="50292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</p:spPr>
      </p:sp>
      <p:pic>
        <p:nvPicPr>
          <p:cNvPr id="20" name="app-screenshot" descr="/home/razinka/marxan/docs/presentations/2026-10-20-saugomos-teritorijos/rivers_tab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504" y="1444752"/>
            <a:ext cx="3527552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 galima pasitikėti rezultatais?</a:t>
            </a:r>
            <a:endParaRPr lang="en-US" sz="3200" dirty="0"/>
          </a:p>
        </p:txBody>
      </p:sp>
      <p:sp>
        <p:nvSpPr>
          <p:cNvPr id="3" name="trust-0-circle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trust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3619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533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Patikrinta su žinomu atsakymu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75564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Testinis uždavinys turi rankomis išvestą optimumą – tikslusis sprendiklis privalo jį pasiekti.</a:t>
            </a:r>
            <a:endParaRPr lang="en-US" sz="1400" dirty="0"/>
          </a:p>
        </p:txBody>
      </p:sp>
      <p:sp>
        <p:nvSpPr>
          <p:cNvPr id="7" name="trust-1-circle"/>
          <p:cNvSpPr/>
          <p:nvPr/>
        </p:nvSpPr>
        <p:spPr>
          <a:xfrm>
            <a:off x="548640" y="25603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trust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249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4203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Sutampa su originaliu Marxan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94436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Baudų, tikslų ir parametrų logika atkartoja originalų Marxan C++ kodą.</a:t>
            </a:r>
            <a:endParaRPr lang="en-US" sz="1400" dirty="0"/>
          </a:p>
        </p:txBody>
      </p:sp>
      <p:sp>
        <p:nvSpPr>
          <p:cNvPr id="11" name="trust-2-circle"/>
          <p:cNvSpPr/>
          <p:nvPr/>
        </p:nvSpPr>
        <p:spPr>
          <a:xfrm>
            <a:off x="548640" y="3749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trust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1363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73075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Automatiniai testai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41330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3 700+ testų paleidžiama po kiekvieno pakeitimo; dabartinė versija juos visus praeina.</a:t>
            </a:r>
            <a:endParaRPr lang="en-US" sz="1400" dirty="0"/>
          </a:p>
        </p:txBody>
      </p:sp>
      <p:sp>
        <p:nvSpPr>
          <p:cNvPr id="15" name="trust-3-circle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trust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10235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91947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Įrodytas optimumas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63040" y="532180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Galima gauti tikslų sprendimą ir palyginti jį su klasikiniu Marxan algoritmu.</a:t>
            </a:r>
            <a:endParaRPr lang="en-US" sz="1400" dirty="0"/>
          </a:p>
        </p:txBody>
      </p:sp>
      <p:sp>
        <p:nvSpPr>
          <p:cNvPr id="19" name="trust-stat"/>
          <p:cNvSpPr/>
          <p:nvPr/>
        </p:nvSpPr>
        <p:spPr>
          <a:xfrm>
            <a:off x="7863840" y="1371600"/>
            <a:ext cx="3749040" cy="4434840"/>
          </a:xfrm>
          <a:prstGeom prst="roundRect">
            <a:avLst>
              <a:gd name="adj" fmla="val 2927"/>
            </a:avLst>
          </a:prstGeom>
          <a:solidFill>
            <a:schemeClr val="tx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2011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24 %</a:t>
            </a:r>
            <a:endParaRPr lang="en-US" sz="66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3383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tiek pigesnis tikslusis sprendimas Kuršių marių pavyzdyje, tenkinant tuos pačius tikslus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 neišplėtotos galimybės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Ko dar trūksta ir ką tai reiškia praktikoje</a:t>
            </a:r>
            <a:endParaRPr lang="en-US" sz="2000" dirty="0"/>
          </a:p>
        </p:txBody>
      </p:sp>
      <p:sp>
        <p:nvSpPr>
          <p:cNvPr id="4" name="section-gap-circle"/>
          <p:cNvSpPr/>
          <p:nvPr/>
        </p:nvSpPr>
        <p:spPr>
          <a:xfrm>
            <a:off x="731520" y="118872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ection-gap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1386230"/>
            <a:ext cx="427939" cy="42793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Neišplėtota: diegimas ir kasdienis naudojimas</a:t>
            </a:r>
            <a:endParaRPr lang="en-US" sz="3200" dirty="0"/>
          </a:p>
        </p:txBody>
      </p:sp>
      <p:graphicFrame>
        <p:nvGraphicFramePr>
          <p:cNvPr id="14" name="ga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852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Galimybė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Ką tai reiškia administracijai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Būklė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Paprastas įdiegimas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Šiandien diegiama iš GitHub; be IT specialisto sudėtinga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Nepradėta (PyPI)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Lietuviška sąsaja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Visa sąsaja ir pagalbos tekstai – anglų kalba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Nepradėta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Bendras darbas įstaigoje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Programą galima paleisti serveryje, bet nėra prisijungimo, naudotojų teisių ir projektų dalijimosi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Nepradėta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Tikslo pasirinkimas programoje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Pvz., „daugiausia apsaugos už fiksuotą biudžetą“: valdiklis yra, bet skaičiavimui neperduodamas – veikia tik per Python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0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Dalinai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Sklaidos nustatymai prioritetų žemėlapiui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Rūšių sklaidos glodinimas pasiekiamas tik per Python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0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Dalinai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Neišplėtota: analitinės galimybės</a:t>
            </a:r>
            <a:endParaRPr lang="en-US" sz="3200" dirty="0"/>
          </a:p>
        </p:txBody>
      </p:sp>
      <p:graphicFrame>
        <p:nvGraphicFramePr>
          <p:cNvPr id="15" name="ga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852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Galimybė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Ką tai reiškia administracijai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Būklė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Buveinės praradimo rizika (Marxan Probability 1D)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Atsižvelgti į tikimybę, kad vieta bus prarasta, pvz., dėl erozijos ar užstatymo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8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Suprojektuota, v0.46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Rizika zonavimo uždaviniuose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Zonų sprendikliai kol kas neatsižvelgia į tikimybių lentelę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Nepradėta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Didelio masto atkūrimo planavimas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apytikslis algoritmas iki kelių tūkstančių langelių; nėra IIC/PC jungtumo indeksų ir buveinių būklių modelio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0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Dalinai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Jungtumas greituosiuose algoritmuose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Godieji algoritmai jungtumą tik apskaičiuoja, bet neoptimizuoja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0A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Dalinai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Zonation patobulinimai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3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Buveinių būklės sluoksniai, rūšių jautrumo parametras, kaimynystės apribojimas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Nepradėta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Smulkesni darbai: sprendinių rinkiniai, mokomųjų duomenų generatorius, kaimynystės ir linijinės baudos, filogenetinis endemizmas, mažesnis atminties poreikis dideliems rastrams su zonomis.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Kelias į priekį</a:t>
            </a:r>
            <a:endParaRPr lang="en-US" sz="3200" dirty="0"/>
          </a:p>
        </p:txBody>
      </p:sp>
      <p:sp>
        <p:nvSpPr>
          <p:cNvPr id="3" name="road-line"/>
          <p:cNvSpPr/>
          <p:nvPr/>
        </p:nvSpPr>
        <p:spPr>
          <a:xfrm>
            <a:off x="914400" y="1874520"/>
            <a:ext cx="1033272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road-dot-0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oad-card-0"/>
          <p:cNvSpPr/>
          <p:nvPr/>
        </p:nvSpPr>
        <p:spPr>
          <a:xfrm>
            <a:off x="548640" y="251460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Artimiausia versija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v0.46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Buveinės praradimo rizika (Probability 1D)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Suderinimas su Marxan 3 tikimybių logika</a:t>
            </a:r>
            <a:endParaRPr lang="en-US" sz="1400" dirty="0"/>
          </a:p>
        </p:txBody>
      </p:sp>
      <p:sp>
        <p:nvSpPr>
          <p:cNvPr id="10" name="road-dot-1"/>
          <p:cNvSpPr/>
          <p:nvPr/>
        </p:nvSpPr>
        <p:spPr>
          <a:xfrm>
            <a:off x="4389120" y="1554480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road-card-1"/>
          <p:cNvSpPr/>
          <p:nvPr/>
        </p:nvSpPr>
        <p:spPr>
          <a:xfrm>
            <a:off x="4297680" y="251460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Platinimui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diegimas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Paketas PyPI kataloge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Lietuviška sąsaja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Tikslo pasirinkimas internetinėje programoje</a:t>
            </a:r>
            <a:endParaRPr lang="en-US" sz="1400" dirty="0"/>
          </a:p>
        </p:txBody>
      </p:sp>
      <p:sp>
        <p:nvSpPr>
          <p:cNvPr id="16" name="road-dot-2"/>
          <p:cNvSpPr/>
          <p:nvPr/>
        </p:nvSpPr>
        <p:spPr>
          <a:xfrm>
            <a:off x="8138160" y="1554480"/>
            <a:ext cx="640080" cy="64008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81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road-card-2"/>
          <p:cNvSpPr/>
          <p:nvPr/>
        </p:nvSpPr>
        <p:spPr>
          <a:xfrm>
            <a:off x="8046720" y="2514600"/>
            <a:ext cx="34747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2697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Kartu su jumis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pilotas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611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Bandomasis projektas vienoje teritorijoje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Tolesnių funkcijų eiliškumas pagal jūsų poreikius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reikėtų bandomajam projektui</a:t>
            </a:r>
            <a:endParaRPr lang="en-US" sz="3200" dirty="0"/>
          </a:p>
        </p:txBody>
      </p:sp>
      <p:sp>
        <p:nvSpPr>
          <p:cNvPr id="3" name="need-card-0"/>
          <p:cNvSpPr/>
          <p:nvPr/>
        </p:nvSpPr>
        <p:spPr>
          <a:xfrm>
            <a:off x="548640" y="137160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need-0-circle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need-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45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Vertybių duomenys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Buveinių ir rūšių žemėlapiai, Natura 2000 vertybės, inventorizacijos</a:t>
            </a:r>
            <a:endParaRPr lang="en-US" sz="1400" dirty="0"/>
          </a:p>
        </p:txBody>
      </p:sp>
      <p:sp>
        <p:nvSpPr>
          <p:cNvPr id="8" name="need-card-1"/>
          <p:cNvSpPr/>
          <p:nvPr/>
        </p:nvSpPr>
        <p:spPr>
          <a:xfrm>
            <a:off x="4251960" y="137160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need-1-circle"/>
          <p:cNvSpPr/>
          <p:nvPr/>
        </p:nvSpPr>
        <p:spPr>
          <a:xfrm>
            <a:off x="448056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need-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17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645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Sąnaudos ir spaudimas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242316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Žemės vertė, ūkinė veikla, grėsmių ir spaudimo sluoksniai</a:t>
            </a:r>
            <a:endParaRPr lang="en-US" sz="1400" dirty="0"/>
          </a:p>
        </p:txBody>
      </p:sp>
      <p:sp>
        <p:nvSpPr>
          <p:cNvPr id="13" name="need-card-2"/>
          <p:cNvSpPr/>
          <p:nvPr/>
        </p:nvSpPr>
        <p:spPr>
          <a:xfrm>
            <a:off x="548640" y="374904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need-2-circle"/>
          <p:cNvSpPr/>
          <p:nvPr/>
        </p:nvSpPr>
        <p:spPr>
          <a:xfrm>
            <a:off x="777240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need-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41769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023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Taisyklės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8006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Esamų teritorijų ribos, zonų reikalavimai, ko negalima keisti</a:t>
            </a:r>
            <a:endParaRPr lang="en-US" sz="1400" dirty="0"/>
          </a:p>
        </p:txBody>
      </p:sp>
      <p:sp>
        <p:nvSpPr>
          <p:cNvPr id="18" name="need-card-3"/>
          <p:cNvSpPr/>
          <p:nvPr/>
        </p:nvSpPr>
        <p:spPr>
          <a:xfrm>
            <a:off x="4251960" y="3749040"/>
            <a:ext cx="347472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need-3-circle"/>
          <p:cNvSpPr/>
          <p:nvPr/>
        </p:nvSpPr>
        <p:spPr>
          <a:xfrm>
            <a:off x="4480560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need-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179" y="417697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303520" y="4023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Konkretus klausimas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480560" y="48006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Vienas realus sprendimas: tinklo plėtra, zonavimas ar atkūrimas</a:t>
            </a:r>
            <a:endParaRPr lang="en-US" sz="1400" dirty="0"/>
          </a:p>
        </p:txBody>
      </p:sp>
      <p:sp>
        <p:nvSpPr>
          <p:cNvPr id="23" name="pilot-result"/>
          <p:cNvSpPr/>
          <p:nvPr/>
        </p:nvSpPr>
        <p:spPr>
          <a:xfrm>
            <a:off x="8092440" y="1371600"/>
            <a:ext cx="3520440" cy="452628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/>
        </p:spPr>
      </p:sp>
      <p:sp>
        <p:nvSpPr>
          <p:cNvPr id="24" name="pilot-circle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pilot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25" y="1867205"/>
            <a:ext cx="380390" cy="38039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66760" y="26517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Rezultatas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8366760" y="3154680"/>
            <a:ext cx="2971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Skaidrus, pakartojamas ir argumentuotas planas su alternatyvomis, kurį galima aptarti su savivaldybėmis, naudotojais ir bendruomene.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Klausimai ir diskusija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Kurie neišplėtoti funkcionalumai jums svarbiausi?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github.com/razinkele/pymarxan · atvirasis kodas, MIT licencija</a:t>
            </a:r>
            <a:endParaRPr lang="en-US" sz="2000" dirty="0"/>
          </a:p>
        </p:txBody>
      </p:sp>
      <p:sp>
        <p:nvSpPr>
          <p:cNvPr id="4" name="closing-circle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losing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929030"/>
            <a:ext cx="427939" cy="4279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agoon">
  <a:themeElements>
    <a:clrScheme name="Lagoon">
      <a:dk1>
        <a:srgbClr val="16323A"/>
      </a:dk1>
      <a:lt1>
        <a:srgbClr val="FFFFFF"/>
      </a:lt1>
      <a:dk2>
        <a:srgbClr val="0F4C5C"/>
      </a:dk2>
      <a:lt2>
        <a:srgbClr val="EEF3F2"/>
      </a:lt2>
      <a:accent1>
        <a:srgbClr val="2E8B7A"/>
      </a:accent1>
      <a:accent2>
        <a:srgbClr val="C8553D"/>
      </a:accent2>
      <a:accent3>
        <a:srgbClr val="E0A93B"/>
      </a:accent3>
      <a:accent4>
        <a:srgbClr val="6C8A99"/>
      </a:accent4>
      <a:accent5>
        <a:srgbClr val="9BC1B4"/>
      </a:accent5>
      <a:accent6>
        <a:srgbClr val="3D6B8C"/>
      </a:accent6>
      <a:hlink>
        <a:srgbClr val="2E8B7A"/>
      </a:hlink>
      <a:folHlink>
        <a:srgbClr val="6C8A99"/>
      </a:folHlink>
    </a:clrScheme>
    <a:fontScheme name="Lago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pymarxan: saugomų teritorijų planavimas</dc:title>
  <dc:subject>PptxGenJS Presentation</dc:subject>
  <dc:creator>Klaipėdos universitetas</dc:creator>
  <cp:lastModifiedBy>Klaipėdos universitetas</cp:lastModifiedBy>
  <cp:revision>1</cp:revision>
  <dcterms:created xsi:type="dcterms:W3CDTF">2026-10-20T11:00:23Z</dcterms:created>
  <dcterms:modified xsi:type="dcterms:W3CDTF">2026-10-20T11:00:23Z</dcterms:modified>
</cp:coreProperties>
</file>